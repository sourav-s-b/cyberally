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y="5143500" cx="9144000"/>
  <p:notesSz cx="6858000" cy="9144000"/>
  <p:embeddedFontLst>
    <p:embeddedFont>
      <p:font typeface="Inter SemiBold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Inter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8A8858-6D40-44B0-B07E-25AC0FEAC237}">
  <a:tblStyle styleId="{BF8A8858-6D40-44B0-B07E-25AC0FEAC23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D505909-F787-471F-BBE1-0B79CC7E52D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InterSemiBold-regular.fntdata"/><Relationship Id="rId25" Type="http://schemas.openxmlformats.org/officeDocument/2006/relationships/slide" Target="slides/slide17.xml"/><Relationship Id="rId28" Type="http://schemas.openxmlformats.org/officeDocument/2006/relationships/font" Target="fonts/InterSemiBold-italic.fntdata"/><Relationship Id="rId27" Type="http://schemas.openxmlformats.org/officeDocument/2006/relationships/font" Target="fonts/InterSemi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SemiBold-bold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3.xml"/><Relationship Id="rId33" Type="http://schemas.openxmlformats.org/officeDocument/2006/relationships/font" Target="fonts/Inter-boldItalic.fntdata"/><Relationship Id="rId10" Type="http://schemas.openxmlformats.org/officeDocument/2006/relationships/slide" Target="slides/slide2.xml"/><Relationship Id="rId32" Type="http://schemas.openxmlformats.org/officeDocument/2006/relationships/font" Target="fonts/Inter-italic.fntdata"/><Relationship Id="rId13" Type="http://schemas.openxmlformats.org/officeDocument/2006/relationships/slide" Target="slides/slide5.xml"/><Relationship Id="rId35" Type="http://schemas.openxmlformats.org/officeDocument/2006/relationships/font" Target="fonts/InterExtraBold-boldItalic.fntdata"/><Relationship Id="rId12" Type="http://schemas.openxmlformats.org/officeDocument/2006/relationships/slide" Target="slides/slide4.xml"/><Relationship Id="rId34" Type="http://schemas.openxmlformats.org/officeDocument/2006/relationships/font" Target="fonts/InterExtraBold-bold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0bd81bd8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fb0bd81bd8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b0e367d7a_1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fb0e367d7a_11_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b0bd81bd8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fb0bd81bd8_3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b0e367d7a_1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fb0e367d7a_11_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b0bd81bd8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fb0bd81bd8_3_1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b0bd81bd8_3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b0bd81bd8_3_2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b0e367d7a_1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fb0e367d7a_11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b0e367d7a_1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fb0e367d7a_11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0e367d7a_1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3fb0e367d7a_11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b0e367d7a_1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fb0e367d7a_11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b0e367d7a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fb0e367d7a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b0e367d7a_1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g3fb0e367d7a_11_1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b0e367d7a_1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fb0e367d7a_11_1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b0e367d7a_1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0" name="Google Shape;380;g3fb0e367d7a_11_2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b0e367d7a_1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g3fb0e367d7a_11_2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b0e367d7a_1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g3fb0e367d7a_11_2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b0e367d7a_1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g3fb0e367d7a_11_2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4" name="Google Shape;134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8" name="Google Shape;15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9" name="Google Shape;15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3" name="Google Shape;16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3186113"/>
            <a:ext cx="40005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75" y="3186113"/>
            <a:ext cx="40005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403" y="163996"/>
            <a:ext cx="2717200" cy="9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7"/>
          <p:cNvSpPr txBox="1"/>
          <p:nvPr/>
        </p:nvSpPr>
        <p:spPr>
          <a:xfrm>
            <a:off x="656510" y="1900238"/>
            <a:ext cx="78309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SELF-EVOLVING AI CYBER-RANGE FOR SOC AUTOMATION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7"/>
          <p:cNvSpPr txBox="1"/>
          <p:nvPr/>
        </p:nvSpPr>
        <p:spPr>
          <a:xfrm>
            <a:off x="635794" y="3364706"/>
            <a:ext cx="37954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GUIDED BY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35794" y="3675236"/>
            <a:ext cx="361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Ms. Angel Varghese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7"/>
          <p:cNvSpPr txBox="1"/>
          <p:nvPr/>
        </p:nvSpPr>
        <p:spPr>
          <a:xfrm>
            <a:off x="635794" y="4019922"/>
            <a:ext cx="361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Assistant Professor, Dept. of AI &amp; DS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4922044" y="3364706"/>
            <a:ext cx="37954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TEAM MEMBERS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7"/>
          <p:cNvSpPr txBox="1"/>
          <p:nvPr/>
        </p:nvSpPr>
        <p:spPr>
          <a:xfrm>
            <a:off x="4922044" y="3579019"/>
            <a:ext cx="36147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Abhinav Krishnan </a:t>
            </a:r>
            <a:r>
              <a:rPr b="0" i="0" lang="en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(MUT23AD005)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4922044" y="3843338"/>
            <a:ext cx="361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Esther Sarah </a:t>
            </a:r>
            <a:r>
              <a:rPr lang="en" sz="1100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Zachariah</a:t>
            </a:r>
            <a:r>
              <a:rPr b="0" i="0" lang="en" sz="11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(MUT23AD031)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7"/>
          <p:cNvSpPr txBox="1"/>
          <p:nvPr/>
        </p:nvSpPr>
        <p:spPr>
          <a:xfrm>
            <a:off x="4922044" y="4107656"/>
            <a:ext cx="36147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Rohit Mohan </a:t>
            </a:r>
            <a:r>
              <a:rPr b="0" i="0" lang="en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(MUT23AD064)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4922044" y="4371975"/>
            <a:ext cx="36147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Sourav Sreekumar </a:t>
            </a:r>
            <a:r>
              <a:rPr b="0" i="0" lang="en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(MUT23AD068)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7"/>
          <p:cNvSpPr txBox="1"/>
          <p:nvPr/>
        </p:nvSpPr>
        <p:spPr>
          <a:xfrm>
            <a:off x="8636807" y="4857750"/>
            <a:ext cx="163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875" y="1330523"/>
            <a:ext cx="4000500" cy="661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2107183"/>
            <a:ext cx="4000500" cy="661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925" y="3098149"/>
            <a:ext cx="4000500" cy="661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BACKGROUND &amp; MOTIVATION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8"/>
          <p:cNvSpPr txBox="1"/>
          <p:nvPr/>
        </p:nvSpPr>
        <p:spPr>
          <a:xfrm>
            <a:off x="8636794" y="4857750"/>
            <a:ext cx="7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8"/>
          <p:cNvSpPr txBox="1"/>
          <p:nvPr/>
        </p:nvSpPr>
        <p:spPr>
          <a:xfrm>
            <a:off x="428625" y="921544"/>
            <a:ext cx="420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 Modern SOC Dilemma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8"/>
          <p:cNvSpPr txBox="1"/>
          <p:nvPr/>
        </p:nvSpPr>
        <p:spPr>
          <a:xfrm>
            <a:off x="4714875" y="921544"/>
            <a:ext cx="42006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Core Motivations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8"/>
          <p:cNvSpPr txBox="1"/>
          <p:nvPr/>
        </p:nvSpPr>
        <p:spPr>
          <a:xfrm>
            <a:off x="557213" y="1250870"/>
            <a:ext cx="85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642938" y="1250156"/>
            <a:ext cx="3786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Operations Centers (SOCs) face an overwhelming volume of incoming alerts daily.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38"/>
          <p:cNvSpPr txBox="1"/>
          <p:nvPr/>
        </p:nvSpPr>
        <p:spPr>
          <a:xfrm>
            <a:off x="557213" y="1956316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8"/>
          <p:cNvSpPr txBox="1"/>
          <p:nvPr/>
        </p:nvSpPr>
        <p:spPr>
          <a:xfrm>
            <a:off x="642938" y="1955601"/>
            <a:ext cx="3786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leads to severe </a:t>
            </a:r>
            <a:r>
              <a:rPr b="1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 fatigue</a:t>
            </a:r>
            <a:r>
              <a:rPr b="0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among human analysts and delayed reaction times.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8"/>
          <p:cNvSpPr txBox="1"/>
          <p:nvPr/>
        </p:nvSpPr>
        <p:spPr>
          <a:xfrm>
            <a:off x="557213" y="2573357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642938" y="2572643"/>
            <a:ext cx="3786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response tools depend entirely on inflexible, static "if-then" rule frameworks.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557213" y="3222546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642938" y="3221831"/>
            <a:ext cx="37863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systems fail against modern, adaptive, and </a:t>
            </a:r>
            <a:r>
              <a:rPr b="1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non-linear attack vectors</a:t>
            </a:r>
            <a:r>
              <a:rPr b="0" i="0" lang="en" sz="13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by sophisticated adversaries.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4900613" y="1385888"/>
            <a:ext cx="362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Validation: Transitioning from static manual pen-testing to continuous, autonomous MARL security assessment.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8"/>
          <p:cNvSpPr txBox="1"/>
          <p:nvPr/>
        </p:nvSpPr>
        <p:spPr>
          <a:xfrm>
            <a:off x="4900613" y="2154510"/>
            <a:ext cx="362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Decentralized Automation: Leveraging multi-zone MAPPO defenders and ML featurizers to coordinate mitigation at machine speed (&lt;100ms).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8"/>
          <p:cNvSpPr txBox="1"/>
          <p:nvPr/>
        </p:nvSpPr>
        <p:spPr>
          <a:xfrm>
            <a:off x="4900613" y="3121782"/>
            <a:ext cx="362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Self-Evolving Resilience: Co-evolving defensive policies against mutating zero-day threats within an air-gapped digital twin.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175" y="1407950"/>
            <a:ext cx="8316226" cy="230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9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</a:t>
            </a:r>
            <a:endParaRPr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9"/>
          <p:cNvSpPr txBox="1"/>
          <p:nvPr/>
        </p:nvSpPr>
        <p:spPr>
          <a:xfrm>
            <a:off x="8636794" y="4857750"/>
            <a:ext cx="7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/>
          </a:p>
        </p:txBody>
      </p:sp>
      <p:sp>
        <p:nvSpPr>
          <p:cNvPr id="221" name="Google Shape;221;p39"/>
          <p:cNvSpPr txBox="1"/>
          <p:nvPr/>
        </p:nvSpPr>
        <p:spPr>
          <a:xfrm>
            <a:off x="538463" y="1552872"/>
            <a:ext cx="78153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SOCs face alert fatigue and delayed responses due to high volumes of security events and rigid rule-based systems. Existing approaches struggle to handle complex, evolving attacks and correlate events for effective threat investigation. There is a need for an intelligent cyber-range that enables continuous testing and automated, adaptive threat detection and response. </a:t>
            </a:r>
            <a:endParaRPr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39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064419"/>
            <a:ext cx="4000500" cy="307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1064419"/>
            <a:ext cx="4000500" cy="307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0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&amp; SIGNIFICANCE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8643938" y="4857750"/>
            <a:ext cx="7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3" name="Google Shape;233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363" y="1271588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0"/>
          <p:cNvSpPr txBox="1"/>
          <p:nvPr/>
        </p:nvSpPr>
        <p:spPr>
          <a:xfrm>
            <a:off x="614363" y="1635919"/>
            <a:ext cx="381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Critical Need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40"/>
          <p:cNvSpPr txBox="1"/>
          <p:nvPr/>
        </p:nvSpPr>
        <p:spPr>
          <a:xfrm>
            <a:off x="614363" y="1964531"/>
            <a:ext cx="3629025" cy="75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analysts and brittle rule engines cannot manually parse multi-source logs during fast-moving, multi-step APT campaigns.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40"/>
          <p:cNvSpPr txBox="1"/>
          <p:nvPr/>
        </p:nvSpPr>
        <p:spPr>
          <a:xfrm>
            <a:off x="614363" y="2832943"/>
            <a:ext cx="3629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systems require cooperative multi-agent reinforcement learning and dynamic reasoning rather than static scripts to adapt to mutating malware.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237" name="Google Shape;237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00613" y="1271588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0"/>
          <p:cNvSpPr txBox="1"/>
          <p:nvPr/>
        </p:nvSpPr>
        <p:spPr>
          <a:xfrm>
            <a:off x="4900613" y="1635919"/>
            <a:ext cx="381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&amp; Significance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0"/>
          <p:cNvSpPr txBox="1"/>
          <p:nvPr/>
        </p:nvSpPr>
        <p:spPr>
          <a:xfrm>
            <a:off x="4900625" y="1964523"/>
            <a:ext cx="362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an air-gapped, multi-zone sandbox where defensive policies co-evolve against LLM-driven adversarial mutations.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40"/>
          <p:cNvSpPr txBox="1"/>
          <p:nvPr/>
        </p:nvSpPr>
        <p:spPr>
          <a:xfrm>
            <a:off x="4900613" y="2680245"/>
            <a:ext cx="3629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Dramatically reduces MTTR to sub-5 seconds, suppresses benign false alarms, and exports verifiable MITRE ATT&amp;CK audit trails to enterprise SIEM.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40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05" y="214313"/>
            <a:ext cx="170724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/>
        </p:nvSpPr>
        <p:spPr>
          <a:xfrm>
            <a:off x="428625" y="357188"/>
            <a:ext cx="69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REVIEW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41"/>
          <p:cNvSpPr txBox="1"/>
          <p:nvPr/>
        </p:nvSpPr>
        <p:spPr>
          <a:xfrm>
            <a:off x="8636794" y="4857750"/>
            <a:ext cx="7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/>
          </a:p>
        </p:txBody>
      </p:sp>
      <p:sp>
        <p:nvSpPr>
          <p:cNvPr id="250" name="Google Shape;250;p41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1" name="Google Shape;251;p41"/>
          <p:cNvGraphicFramePr/>
          <p:nvPr/>
        </p:nvGraphicFramePr>
        <p:xfrm>
          <a:off x="411480" y="804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{BF8A8858-6D40-44B0-B07E-25AC0FEAC237}</a:tableStyleId>
              </a:tblPr>
              <a:tblGrid>
                <a:gridCol w="2103125"/>
                <a:gridCol w="2194550"/>
                <a:gridCol w="2011675"/>
                <a:gridCol w="20116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Paper title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Methodology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Advantages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Drawbacks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 u="none" cap="none" strike="noStrike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He, L., Yin, Z., &amp; Chen, J. (2024). SecOpsAgent: An LLM-based agent for cybersecurity operations automation. IEEE Trans. Dependable Secure Comput.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Integrates LLMs for autonomous security log triage, dynamic prompt chaining, and automated incident response workflows.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Automates complex alert triage via LLM reasoning.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Provides explainable incident audit trails.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Drastically reduces Tier-1 SOC analyst workload.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Lacks autonomous Red Team adversarial feedback.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Does not self-evolve from real-time attack failures.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 u="none" cap="none" strike="noStrike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Chowdhury, M., &amp; Rahman, A. (2023). Automated penetration testing using deep reinforcement learning in dynamic networks. IEEE Access, 11, 45210-45225.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Employs DRL models and scripted vulnerability tools to automate multi-stage network penetration testing.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Fast and repeatable attack simulation.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High CVE database signature coverage.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Deterministic execution across known target configs.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Rigid exploit paths fail against runtime defenses.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High sample complexity and poor generalization.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 u="none" cap="none" strike="noStrike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Ahmed, M., &amp; Pathan, A. S. (2022). Unsupervised anomaly detection in high-volume network telemetry using Isolation Forest. Elsevier Computers &amp; Security, 114, 102580.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Applies Isolation Forest and LOF algorithms on raw eBPF/Syslog telemetry streams for anomaly scoring.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Detects zero-day anomalies without prior signatures.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Scales efficiently to high-throughput log streams.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Low computational training overhead on host CPU.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High false-positive rate causing SOC alert fatigue.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Lacks autonomous containment or remediation loops.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1800">
                <a:latin typeface="Inter ExtraBold"/>
                <a:ea typeface="Inter ExtraBold"/>
                <a:cs typeface="Inter ExtraBold"/>
                <a:sym typeface="Inter ExtraBold"/>
              </a:rPr>
              <a:t> LITERATURE REVIEW (PART 2)</a:t>
            </a:r>
            <a:endParaRPr/>
          </a:p>
        </p:txBody>
      </p:sp>
      <p:sp>
        <p:nvSpPr>
          <p:cNvPr id="257" name="Google Shape;257;p42"/>
          <p:cNvSpPr txBox="1"/>
          <p:nvPr/>
        </p:nvSpPr>
        <p:spPr>
          <a:xfrm>
            <a:off x="428625" y="357188"/>
            <a:ext cx="69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REVIEW </a:t>
            </a: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(PART 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42"/>
          <p:cNvSpPr txBox="1"/>
          <p:nvPr/>
        </p:nvSpPr>
        <p:spPr>
          <a:xfrm>
            <a:off x="8636794" y="4857750"/>
            <a:ext cx="78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/>
          </a:p>
        </p:txBody>
      </p:sp>
      <p:sp>
        <p:nvSpPr>
          <p:cNvPr id="259" name="Google Shape;259;p42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42"/>
          <p:cNvGraphicFramePr/>
          <p:nvPr/>
        </p:nvGraphicFramePr>
        <p:xfrm>
          <a:off x="428630" y="804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{BF8A8858-6D40-44B0-B07E-25AC0FEAC237}</a:tableStyleId>
              </a:tblPr>
              <a:tblGrid>
                <a:gridCol w="2085975"/>
                <a:gridCol w="2194550"/>
                <a:gridCol w="2011675"/>
                <a:gridCol w="20116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Paper title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Methodology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Advantages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Drawbacks</a:t>
                      </a:r>
                      <a:endParaRPr/>
                    </a:p>
                  </a:txBody>
                  <a:tcPr marT="18300" marB="18300" marR="36575" marL="36575" anchor="ctr">
                    <a:solidFill>
                      <a:srgbClr val="D3122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 u="none" cap="none" strike="noStrike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Islam, C., Babar, M. A., &amp; Nepal, S. (2021). Automated cyber incident response using SOAR playbooks. IEEE Transactions on Services Computing, 14(4), 1120-1135.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Implements static SOAR playbooks for standardized incident triage and API-driven firewall containment.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Drastically cuts manual response latency.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Standardizes enterprise incident management.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Easy integration with existing SIEM tools.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Static rule-based playbooks cannot adapt.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Breaks during non-linear, multi-stage zero-day attacks.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 u="none" cap="none" strike="noStrike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Wang, Y., &amp; Zhang, H. (2023). Intelligent container honeynet architectures for proactive threat intelligence. ACM Trans. Priv. Secur., 26(2), 1-28.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Deploys containerized decoy environments (honeypots) to capture attacker behavior and extract TTPs.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Extracts high-fidelity adversarial TTPs.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Safely diverts threats away from production assets.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Low risk to primary network infrastructure.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Passive defense only; no active containment.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High maintenance overhead for decoy realism.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9FAF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 u="none" cap="none" strike="noStrike">
                          <a:solidFill>
                            <a:srgbClr val="111827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Nguyen, T. T., &amp; Reddi, V. J. (2021). Deep reinforcement learning for cyber security in coalition networks: A survey. IEEE Comms Surveys &amp; Tutorials, 23(4), 2494-2524.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Surveys multi-agent reinforcement learning (MARL/MAPPO) frameworks for distributed cyber network defense.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Dynamic policy adaptation against adversaries.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Decentralized execution across partitioned subnets.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Theoretical convergence guarantees in games.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Black-box decisions lack explainable SOC audit logs.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37415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• Severe training instability and compute demands.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61" name="Google Shape;26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1005" y="214313"/>
            <a:ext cx="170724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875" y="1250156"/>
            <a:ext cx="4000500" cy="2129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3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RESEARCH GAP &amp; LIMITATIONS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43"/>
          <p:cNvSpPr txBox="1"/>
          <p:nvPr/>
        </p:nvSpPr>
        <p:spPr>
          <a:xfrm>
            <a:off x="8651065" y="4857750"/>
            <a:ext cx="17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7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272" name="Google Shape;272;p43"/>
          <p:cNvSpPr txBox="1"/>
          <p:nvPr/>
        </p:nvSpPr>
        <p:spPr>
          <a:xfrm>
            <a:off x="428625" y="921544"/>
            <a:ext cx="4200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Existing System Flaws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3"/>
          <p:cNvSpPr txBox="1"/>
          <p:nvPr/>
        </p:nvSpPr>
        <p:spPr>
          <a:xfrm>
            <a:off x="4714875" y="921544"/>
            <a:ext cx="420052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Our Proposed Advancement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3"/>
          <p:cNvSpPr txBox="1"/>
          <p:nvPr/>
        </p:nvSpPr>
        <p:spPr>
          <a:xfrm>
            <a:off x="557213" y="1250870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3"/>
          <p:cNvSpPr txBox="1"/>
          <p:nvPr/>
        </p:nvSpPr>
        <p:spPr>
          <a:xfrm>
            <a:off x="642938" y="1250156"/>
            <a:ext cx="378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Inflexible Rule Logic &amp; Single-Agent Fragility: Current automation relies on rigid heuristic playbooks and single-agent anomaly detectors that fail during non-linear, multi-step attacks and lack decentralized coordination.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3"/>
          <p:cNvSpPr txBox="1"/>
          <p:nvPr/>
        </p:nvSpPr>
        <p:spPr>
          <a:xfrm>
            <a:off x="557213" y="2360383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3"/>
          <p:cNvSpPr txBox="1"/>
          <p:nvPr/>
        </p:nvSpPr>
        <p:spPr>
          <a:xfrm>
            <a:off x="642938" y="2279302"/>
            <a:ext cx="378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Retraining Loops: Traditional ranges treat attack simulation and defensive logging as decoupled operations, missing closed-loop adversarial retraining to co-evolve defense policies against zero-day variants.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43"/>
          <p:cNvSpPr txBox="1"/>
          <p:nvPr/>
        </p:nvSpPr>
        <p:spPr>
          <a:xfrm>
            <a:off x="557213" y="3437751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3"/>
          <p:cNvSpPr txBox="1"/>
          <p:nvPr/>
        </p:nvSpPr>
        <p:spPr>
          <a:xfrm>
            <a:off x="642938" y="3469412"/>
            <a:ext cx="378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False Positive Burden &amp; Black-Box Decisions: Anomaly engines flood analysts with unstructured alerts without explainable audit trails or verified containment actions aligned to MITRE ATT&amp;CK.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43"/>
          <p:cNvSpPr txBox="1"/>
          <p:nvPr/>
        </p:nvSpPr>
        <p:spPr>
          <a:xfrm>
            <a:off x="4900613" y="1457325"/>
            <a:ext cx="3629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bridge this gap by establishing an </a:t>
            </a:r>
            <a:r>
              <a:rPr b="1" i="0" lang="en" sz="12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adversarial closed-loop ecosystem</a:t>
            </a:r>
            <a:r>
              <a:rPr b="0" i="0" lang="en" sz="12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4900613" y="2074366"/>
            <a:ext cx="362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Red Team agent actively explores and mutates exploits based on target responses, while the Blue Team decentralized MARL cluster (MAPPO) executes sub-second containment actions, evaluated by an LLM reasoning auditor.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43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4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SOLUTION 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4"/>
          <p:cNvSpPr txBox="1"/>
          <p:nvPr/>
        </p:nvSpPr>
        <p:spPr>
          <a:xfrm>
            <a:off x="8636812" y="4857750"/>
            <a:ext cx="221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4"/>
          <p:cNvSpPr txBox="1"/>
          <p:nvPr/>
        </p:nvSpPr>
        <p:spPr>
          <a:xfrm>
            <a:off x="349900" y="929594"/>
            <a:ext cx="8286900" cy="3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establishes an autonomous, self-evolving cyber-range combining an LLM-driven Red Team Agent and a decentralized MARL Blue Team SecOps platform within an air-gapped containerized sandbox.</a:t>
            </a:r>
            <a:endParaRPr i="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 Adversarial Probing: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LLM-driven Red Team Agent dynamically probes target applications 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(OWASP, JuiceShop, DVWA)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chains exploits 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(SQLi, RCE)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mutates payloads on defense block.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Telemetry Featurization &amp; POMDP: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eBPF kernel hooks and packet streams are featurized via Isolation Forest into dense state observation vectors per network zone, suppressing benign noise.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Decentralized MARL Defense (MAPPO): 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Zone-specific defense actors execute sub-second containment (eBPF packet drop, container isolation, token revoke) under bandwidth constraints.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Closed-Loop Policy Co-Evolution:</a:t>
            </a: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Adversarial retraining updates Blue MAPPO policies against evasive payloads, while an LLM reasoning auditor exports verifiable MITRE ATT&amp;CK audit trails to SIEM.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44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5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&amp; DELIVERABLES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8636806" y="4857750"/>
            <a:ext cx="155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5"/>
          <p:cNvSpPr txBox="1"/>
          <p:nvPr/>
        </p:nvSpPr>
        <p:spPr>
          <a:xfrm>
            <a:off x="428625" y="921544"/>
            <a:ext cx="42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Objectives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5"/>
          <p:cNvSpPr txBox="1"/>
          <p:nvPr/>
        </p:nvSpPr>
        <p:spPr>
          <a:xfrm>
            <a:off x="4714875" y="921544"/>
            <a:ext cx="42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Deliverables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45"/>
          <p:cNvSpPr txBox="1"/>
          <p:nvPr/>
        </p:nvSpPr>
        <p:spPr>
          <a:xfrm>
            <a:off x="557213" y="1250870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642938" y="1250156"/>
            <a:ext cx="378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construct an isolated, multi-zone containerized cyber-range with strict network egress controls.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557213" y="1924169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5"/>
          <p:cNvSpPr txBox="1"/>
          <p:nvPr/>
        </p:nvSpPr>
        <p:spPr>
          <a:xfrm>
            <a:off x="642938" y="1923454"/>
            <a:ext cx="378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LLM-driven Red Team agent for multi-stage exploit chaining and dynamic mutation.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5"/>
          <p:cNvSpPr txBox="1"/>
          <p:nvPr/>
        </p:nvSpPr>
        <p:spPr>
          <a:xfrm>
            <a:off x="557213" y="2605504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5"/>
          <p:cNvSpPr txBox="1"/>
          <p:nvPr/>
        </p:nvSpPr>
        <p:spPr>
          <a:xfrm>
            <a:off x="642938" y="2604790"/>
            <a:ext cx="37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 decentralized Blue MARL system (MAPPO) for sub-second, cooperative zone containment.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45"/>
          <p:cNvSpPr txBox="1"/>
          <p:nvPr/>
        </p:nvSpPr>
        <p:spPr>
          <a:xfrm>
            <a:off x="557213" y="3576161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642938" y="3575446"/>
            <a:ext cx="37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establish an adversarial closed-loop retraining pipeline with an LLM reasoning auditor and SIEM export.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45"/>
          <p:cNvSpPr txBox="1"/>
          <p:nvPr/>
        </p:nvSpPr>
        <p:spPr>
          <a:xfrm>
            <a:off x="4843463" y="1315164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5"/>
          <p:cNvSpPr txBox="1"/>
          <p:nvPr/>
        </p:nvSpPr>
        <p:spPr>
          <a:xfrm>
            <a:off x="4929188" y="1314450"/>
            <a:ext cx="37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Multi-agent Python/Docker cyber-range environment with MAPPO defense policies and Red exploit engine.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45"/>
          <p:cNvSpPr txBox="1"/>
          <p:nvPr/>
        </p:nvSpPr>
        <p:spPr>
          <a:xfrm>
            <a:off x="4843463" y="2149197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 txBox="1"/>
          <p:nvPr/>
        </p:nvSpPr>
        <p:spPr>
          <a:xfrm>
            <a:off x="4929188" y="2124372"/>
            <a:ext cx="37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SOC Web Dashboard displaying real-time attack graphs, zone states, and LLM reasoning trails.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4843463" y="2830532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4929188" y="2853928"/>
            <a:ext cx="37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benchmark report measuring MTTD, MTTR (&lt;5s), false-positive suppression, and MARL co-evolution curves.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6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SYSTEM ARCHITECTURE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8586812" y="4857750"/>
            <a:ext cx="27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10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326" name="Google Shape;326;p46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8099" y="824713"/>
            <a:ext cx="5114550" cy="39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1800">
                <a:latin typeface="Inter ExtraBold"/>
                <a:ea typeface="Inter ExtraBold"/>
                <a:cs typeface="Inter ExtraBold"/>
                <a:sym typeface="Inter ExtraBold"/>
              </a:rPr>
              <a:t> PROPOSED SYSTEM: INCIDENT RESPONSE WORKFLOW</a:t>
            </a:r>
            <a:endParaRPr/>
          </a:p>
        </p:txBody>
      </p:sp>
      <p:sp>
        <p:nvSpPr>
          <p:cNvPr descr="image.png" id="333" name="Google Shape;333;p47"/>
          <p:cNvSpPr/>
          <p:nvPr/>
        </p:nvSpPr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7"/>
          <p:cNvSpPr txBox="1"/>
          <p:nvPr/>
        </p:nvSpPr>
        <p:spPr>
          <a:xfrm>
            <a:off x="428625" y="357188"/>
            <a:ext cx="69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SYSTEM: INCIDENT RESPONSE WORKFLOW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7"/>
          <p:cNvSpPr txBox="1"/>
          <p:nvPr/>
        </p:nvSpPr>
        <p:spPr>
          <a:xfrm>
            <a:off x="8586812" y="4857750"/>
            <a:ext cx="27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336" name="Google Shape;336;p47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orkflow_minimal_v3.png" id="337" name="Google Shape;337;p47"/>
          <p:cNvPicPr preferRelativeResize="0"/>
          <p:nvPr/>
        </p:nvPicPr>
        <p:blipFill rotWithShape="1">
          <a:blip r:embed="rId3">
            <a:alphaModFix/>
          </a:blip>
          <a:srcRect b="23511" l="1724" r="3047" t="10522"/>
          <a:stretch/>
        </p:blipFill>
        <p:spPr>
          <a:xfrm>
            <a:off x="150300" y="785825"/>
            <a:ext cx="8843400" cy="3481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8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IMPLEMENTATION TIMELINE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8"/>
          <p:cNvSpPr txBox="1"/>
          <p:nvPr/>
        </p:nvSpPr>
        <p:spPr>
          <a:xfrm>
            <a:off x="8615388" y="4857750"/>
            <a:ext cx="20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12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347" name="Google Shape;347;p48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imeline_clean.png" id="348" name="Google Shape;348;p48"/>
          <p:cNvPicPr preferRelativeResize="0"/>
          <p:nvPr/>
        </p:nvPicPr>
        <p:blipFill rotWithShape="1">
          <a:blip r:embed="rId5">
            <a:alphaModFix/>
          </a:blip>
          <a:srcRect b="13143" l="2307" r="2744" t="8061"/>
          <a:stretch/>
        </p:blipFill>
        <p:spPr>
          <a:xfrm>
            <a:off x="228025" y="822350"/>
            <a:ext cx="8630227" cy="3744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953691"/>
            <a:ext cx="4000500" cy="3582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921544"/>
            <a:ext cx="4000500" cy="3582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9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OUTCOMES &amp; FUTURE SCOPE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9"/>
          <p:cNvSpPr txBox="1"/>
          <p:nvPr/>
        </p:nvSpPr>
        <p:spPr>
          <a:xfrm>
            <a:off x="8593919" y="4857750"/>
            <a:ext cx="25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9" name="Google Shape;359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363" y="1128713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9"/>
          <p:cNvSpPr txBox="1"/>
          <p:nvPr/>
        </p:nvSpPr>
        <p:spPr>
          <a:xfrm>
            <a:off x="614363" y="1493044"/>
            <a:ext cx="381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image.png" id="361" name="Google Shape;361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00613" y="1128713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9"/>
          <p:cNvSpPr txBox="1"/>
          <p:nvPr/>
        </p:nvSpPr>
        <p:spPr>
          <a:xfrm>
            <a:off x="4900613" y="1493044"/>
            <a:ext cx="381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49"/>
          <p:cNvSpPr txBox="1"/>
          <p:nvPr/>
        </p:nvSpPr>
        <p:spPr>
          <a:xfrm>
            <a:off x="742950" y="1822370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9"/>
          <p:cNvSpPr txBox="1"/>
          <p:nvPr/>
        </p:nvSpPr>
        <p:spPr>
          <a:xfrm>
            <a:off x="828675" y="1821656"/>
            <a:ext cx="34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Autonomous, zero-human-intervention threat containment executed in under 5 seconds.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49"/>
          <p:cNvSpPr txBox="1"/>
          <p:nvPr/>
        </p:nvSpPr>
        <p:spPr>
          <a:xfrm>
            <a:off x="742950" y="2439412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9"/>
          <p:cNvSpPr txBox="1"/>
          <p:nvPr/>
        </p:nvSpPr>
        <p:spPr>
          <a:xfrm>
            <a:off x="828675" y="2438697"/>
            <a:ext cx="341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90% reduction in false-positive alert fatigue with verified MITRE ATT&amp;CK audit trails.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49"/>
          <p:cNvSpPr txBox="1"/>
          <p:nvPr/>
        </p:nvSpPr>
        <p:spPr>
          <a:xfrm>
            <a:off x="742950" y="3056453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9"/>
          <p:cNvSpPr txBox="1"/>
          <p:nvPr/>
        </p:nvSpPr>
        <p:spPr>
          <a:xfrm>
            <a:off x="828675" y="3055738"/>
            <a:ext cx="341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Decentralized MAPPO defense policies resilient across low-bandwidth, partitioned network zones.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49"/>
          <p:cNvSpPr txBox="1"/>
          <p:nvPr/>
        </p:nvSpPr>
        <p:spPr>
          <a:xfrm>
            <a:off x="742950" y="3705642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9"/>
          <p:cNvSpPr txBox="1"/>
          <p:nvPr/>
        </p:nvSpPr>
        <p:spPr>
          <a:xfrm>
            <a:off x="828675" y="3745110"/>
            <a:ext cx="341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Demonstrated closed-loop co-evolution: Blue defense improves across adversarial retraining rounds.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49"/>
          <p:cNvSpPr txBox="1"/>
          <p:nvPr/>
        </p:nvSpPr>
        <p:spPr>
          <a:xfrm>
            <a:off x="5029200" y="1822370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9"/>
          <p:cNvSpPr txBox="1"/>
          <p:nvPr/>
        </p:nvSpPr>
        <p:spPr>
          <a:xfrm>
            <a:off x="5114925" y="1821656"/>
            <a:ext cx="341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Post-deployment continual adaptation pipeline with shadow digital twins and EWC fine-tuning.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49"/>
          <p:cNvSpPr txBox="1"/>
          <p:nvPr/>
        </p:nvSpPr>
        <p:spPr>
          <a:xfrm>
            <a:off x="5029200" y="2439412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9"/>
          <p:cNvSpPr txBox="1"/>
          <p:nvPr/>
        </p:nvSpPr>
        <p:spPr>
          <a:xfrm>
            <a:off x="5114925" y="2438697"/>
            <a:ext cx="341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Cross-organization federated MARL learning across distributed enterprise SOC enclaves.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9"/>
          <p:cNvSpPr txBox="1"/>
          <p:nvPr/>
        </p:nvSpPr>
        <p:spPr>
          <a:xfrm>
            <a:off x="5029200" y="3056453"/>
            <a:ext cx="85725" cy="25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9"/>
          <p:cNvSpPr txBox="1"/>
          <p:nvPr/>
        </p:nvSpPr>
        <p:spPr>
          <a:xfrm>
            <a:off x="5114925" y="3055738"/>
            <a:ext cx="341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Scaling to large-scale multi-cluster Kubernetes service meshes and edge networks.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49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0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BUDGET &amp; RESOURCES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50"/>
          <p:cNvSpPr txBox="1"/>
          <p:nvPr/>
        </p:nvSpPr>
        <p:spPr>
          <a:xfrm>
            <a:off x="8586788" y="4857750"/>
            <a:ext cx="1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6" name="Google Shape;386;p50"/>
          <p:cNvGraphicFramePr/>
          <p:nvPr/>
        </p:nvGraphicFramePr>
        <p:xfrm>
          <a:off x="428625" y="9929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{8D505909-F787-471F-BBE1-0B79CC7E52D8}</a:tableStyleId>
              </a:tblPr>
              <a:tblGrid>
                <a:gridCol w="2069900"/>
                <a:gridCol w="4553700"/>
                <a:gridCol w="1656000"/>
              </a:tblGrid>
              <a:tr h="47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Resource Category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 / Tooling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Estimated Cost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1222"/>
                    </a:solidFill>
                  </a:tcPr>
                </a:tc>
              </a:tr>
              <a:tr h="47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Compute &amp; Hardware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 Workstation (NVIDIA GPU, 32GB RAM) / Cloud GPU instances (AWS/GCP).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Existing Lab / Open Source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LLM &amp; API Services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OpenAI GPT-4 / Anthropic Claude API tokens for agent reasoning loops.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Nominal / Research Credits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47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&amp; Frameworks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Docker, Kubernetes, ELK Stack, Python, SecOpsAgent open-source base.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₹0 (Open Source)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 Infrastructure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Virtual SDN tools, OSquery, Packetbeat agents for telemetry capture.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₹0 (Open Source)</a:t>
                      </a:r>
                      <a:endParaRPr sz="1100" u="none" cap="none" strike="noStrike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387" name="Google Shape;387;p50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064419"/>
            <a:ext cx="8286750" cy="2607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1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CLASSIFICATION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51"/>
          <p:cNvSpPr txBox="1"/>
          <p:nvPr/>
        </p:nvSpPr>
        <p:spPr>
          <a:xfrm>
            <a:off x="8586800" y="4857750"/>
            <a:ext cx="27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15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1"/>
          <p:cNvSpPr txBox="1"/>
          <p:nvPr/>
        </p:nvSpPr>
        <p:spPr>
          <a:xfrm>
            <a:off x="614363" y="1271588"/>
            <a:ext cx="831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D31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 &amp; Categorization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8" name="Google Shape;398;p51"/>
          <p:cNvGraphicFramePr/>
          <p:nvPr/>
        </p:nvGraphicFramePr>
        <p:xfrm>
          <a:off x="614363" y="16359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{8D505909-F787-471F-BBE1-0B79CC7E52D8}</a:tableStyleId>
              </a:tblPr>
              <a:tblGrid>
                <a:gridCol w="2372400"/>
                <a:gridCol w="5535725"/>
              </a:tblGrid>
              <a:tr h="46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Domain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Artificial Intelligence &amp; Cybersecurity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Sub-Domains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Multi-Agent Systems, Autonomous SOC Automation, Multi Agent R</a:t>
                      </a:r>
                      <a:r>
                        <a:rPr lang="en" sz="110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einforcement Learning</a:t>
                      </a:r>
                      <a:r>
                        <a:rPr i="0" lang="en" sz="11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,Threat Intelligence, Containerized Sandboxing, Machine Learning Anomaly Scoring.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46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Type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&amp; Practical Systems Implementation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PO/PSO Core Alignment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PO1 (Engineering Knowledge), PO3 (Design/Dev), PSO1 (AI &amp; Data Science Solutions), PSO2 (Intelligent Systems Engineering)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51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82024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1005" y="214313"/>
            <a:ext cx="170724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2"/>
          <p:cNvSpPr txBox="1"/>
          <p:nvPr/>
        </p:nvSpPr>
        <p:spPr>
          <a:xfrm>
            <a:off x="428625" y="357188"/>
            <a:ext cx="6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ADDRESSED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52"/>
          <p:cNvSpPr txBox="1"/>
          <p:nvPr/>
        </p:nvSpPr>
        <p:spPr>
          <a:xfrm>
            <a:off x="8593920" y="4857750"/>
            <a:ext cx="22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16</a:t>
            </a:r>
            <a:endParaRPr sz="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408" name="Google Shape;408;p52"/>
          <p:cNvSpPr txBox="1"/>
          <p:nvPr/>
        </p:nvSpPr>
        <p:spPr>
          <a:xfrm>
            <a:off x="428625" y="893862"/>
            <a:ext cx="504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36E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 9: Industry, Innovation, and Infrastructure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52"/>
          <p:cNvSpPr txBox="1"/>
          <p:nvPr/>
        </p:nvSpPr>
        <p:spPr>
          <a:xfrm>
            <a:off x="428625" y="1376958"/>
            <a:ext cx="480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Alignment Justification: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52"/>
          <p:cNvSpPr txBox="1"/>
          <p:nvPr/>
        </p:nvSpPr>
        <p:spPr>
          <a:xfrm>
            <a:off x="557213" y="1775490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2"/>
          <p:cNvSpPr txBox="1"/>
          <p:nvPr/>
        </p:nvSpPr>
        <p:spPr>
          <a:xfrm>
            <a:off x="642938" y="1750665"/>
            <a:ext cx="4586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9.5 (Enhance Scientific Research):</a:t>
            </a:r>
            <a:r>
              <a:rPr b="0" i="0" lang="en" sz="14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project drives high-tech innovation by pioneering an autonomous adversarial AI framework to revolutionize traditional SOC automation.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557213" y="2782759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2"/>
          <p:cNvSpPr txBox="1"/>
          <p:nvPr/>
        </p:nvSpPr>
        <p:spPr>
          <a:xfrm>
            <a:off x="642938" y="2790081"/>
            <a:ext cx="45864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Resilient Infrastructure:</a:t>
            </a:r>
            <a:r>
              <a:rPr b="0" i="0" lang="en" sz="14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Directly builds resilient digital infrastructure by constructing containerized, network-restricted cyber-ranges capable of withstanding and autonomously mitigating non-linear cyber threats.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52"/>
          <p:cNvSpPr txBox="1"/>
          <p:nvPr/>
        </p:nvSpPr>
        <p:spPr>
          <a:xfrm>
            <a:off x="557213" y="4191863"/>
            <a:ext cx="8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2"/>
          <p:cNvSpPr txBox="1"/>
          <p:nvPr/>
        </p:nvSpPr>
        <p:spPr>
          <a:xfrm>
            <a:off x="642938" y="4191149"/>
            <a:ext cx="45864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4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secondary goals like SDG 8 (Decent Work) by reducing security operational overhead and SOC burnout.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52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1" name="Google Shape;42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4772025"/>
            <a:ext cx="828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4575" y="149001"/>
            <a:ext cx="3194850" cy="10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3"/>
          <p:cNvSpPr txBox="1"/>
          <p:nvPr/>
        </p:nvSpPr>
        <p:spPr>
          <a:xfrm>
            <a:off x="656510" y="2228855"/>
            <a:ext cx="7830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8586788" y="4857750"/>
            <a:ext cx="1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17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53"/>
          <p:cNvSpPr txBox="1"/>
          <p:nvPr/>
        </p:nvSpPr>
        <p:spPr>
          <a:xfrm>
            <a:off x="2936100" y="4914000"/>
            <a:ext cx="327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3333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SELF-EVOLVING AI CYBER-RANGE FOR SOC AUTOMATION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